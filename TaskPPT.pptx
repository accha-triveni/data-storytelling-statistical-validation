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1" r:id="rId11"/>
    <p:sldId id="272" r:id="rId12"/>
    <p:sldId id="273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photoAlbum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08B608-6757-4AF6-893A-3B315AB82148}" v="6" dt="2026-07-02T17:09:25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46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0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83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64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93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04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71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7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896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16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61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8B5F1-7CF4-41A0-A815-434A4A5B459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11126-DDAD-478D-8F8A-396D95922B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872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">
            <a:extLst>
              <a:ext uri="{FF2B5EF4-FFF2-40B4-BE49-F238E27FC236}">
                <a16:creationId xmlns:a16="http://schemas.microsoft.com/office/drawing/2014/main" id="{8E238075-8508-B3C1-1869-60A15F544E7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" y="0"/>
            <a:ext cx="12298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3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9CDBAC-41A8-B48E-67D5-97846D1A7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060" y="612909"/>
            <a:ext cx="12428220" cy="543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6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E1542E-F02F-DC20-4182-C213802C2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9120"/>
            <a:ext cx="12252960" cy="576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2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B4881-9D2C-BFBD-9C33-519DBEA22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58140"/>
            <a:ext cx="13087603" cy="561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4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2796E-9781-A741-0ADB-2262C1EC2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" y="167640"/>
            <a:ext cx="12336780" cy="544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8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71603-6032-B388-3D67-BBD676FBC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"/>
            <a:ext cx="12192000" cy="606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88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10B2CF-1DF1-FE92-3816-858710FFE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548390"/>
            <a:ext cx="12100559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37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F7802E-C366-E932-C0AB-D527DBC40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901"/>
            <a:ext cx="12268200" cy="513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22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9B5632-ABDC-F413-492F-6753B77D6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6993"/>
            <a:ext cx="12291060" cy="54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50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61479F-4AF9-151D-3BC7-B1E9DEB600EB}"/>
              </a:ext>
            </a:extLst>
          </p:cNvPr>
          <p:cNvSpPr txBox="1"/>
          <p:nvPr/>
        </p:nvSpPr>
        <p:spPr>
          <a:xfrm>
            <a:off x="327660" y="891540"/>
            <a:ext cx="87782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Statistical </a:t>
            </a:r>
            <a:r>
              <a:rPr lang="en-US" b="1" dirty="0" err="1"/>
              <a:t>ValidationStatistical</a:t>
            </a:r>
            <a:r>
              <a:rPr lang="en-US" b="1" dirty="0"/>
              <a:t> </a:t>
            </a:r>
          </a:p>
          <a:p>
            <a:r>
              <a:rPr lang="en-US" dirty="0"/>
              <a:t>Test 1: </a:t>
            </a:r>
            <a:r>
              <a:rPr lang="en-US" dirty="0" err="1"/>
              <a:t>pearson</a:t>
            </a:r>
            <a:r>
              <a:rPr lang="en-US" dirty="0"/>
              <a:t> correlation </a:t>
            </a:r>
          </a:p>
          <a:p>
            <a:r>
              <a:rPr lang="en-US" dirty="0" err="1"/>
              <a:t>Testbusiness</a:t>
            </a:r>
            <a:r>
              <a:rPr lang="en-US" dirty="0"/>
              <a:t> question:</a:t>
            </a:r>
          </a:p>
          <a:p>
            <a:r>
              <a:rPr lang="en-US" dirty="0"/>
              <a:t>.Does customer rating influence the total sales amount?</a:t>
            </a:r>
          </a:p>
          <a:p>
            <a:r>
              <a:rPr lang="en-US" u="sng" dirty="0"/>
              <a:t>Null Hypothesis (H₀)</a:t>
            </a:r>
          </a:p>
          <a:p>
            <a:r>
              <a:rPr lang="en-US" dirty="0"/>
              <a:t>There is no significant relationship between Customer Rating and Total Amount.</a:t>
            </a:r>
          </a:p>
          <a:p>
            <a:r>
              <a:rPr lang="en-US" u="sng" dirty="0"/>
              <a:t>Alternative Hypothesis (H₁)</a:t>
            </a:r>
          </a:p>
          <a:p>
            <a:r>
              <a:rPr lang="en-US" dirty="0"/>
              <a:t>There is a significant relationship between Customer Rating and Total Amount.</a:t>
            </a:r>
          </a:p>
          <a:p>
            <a:r>
              <a:rPr lang="en-US" u="sng" dirty="0"/>
              <a:t>Test Used</a:t>
            </a:r>
          </a:p>
          <a:p>
            <a:r>
              <a:rPr lang="en-US" dirty="0"/>
              <a:t>Pearson Correlation Test </a:t>
            </a:r>
          </a:p>
          <a:p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Variables:</a:t>
            </a:r>
          </a:p>
          <a:p>
            <a:r>
              <a:rPr lang="en-US" dirty="0"/>
              <a:t>.Rating</a:t>
            </a:r>
          </a:p>
          <a:p>
            <a:r>
              <a:rPr lang="en-US" dirty="0"/>
              <a:t>.Total Amount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</a:t>
            </a:r>
          </a:p>
          <a:p>
            <a:r>
              <a:rPr lang="en-US" dirty="0"/>
              <a:t>.If P-value &lt; 0.05</a:t>
            </a:r>
          </a:p>
          <a:p>
            <a:r>
              <a:rPr lang="en-US" dirty="0"/>
              <a:t>.Reject </a:t>
            </a:r>
            <a:r>
              <a:rPr lang="en-US" dirty="0" err="1"/>
              <a:t>H₀Rating</a:t>
            </a:r>
            <a:r>
              <a:rPr lang="en-US" dirty="0"/>
              <a:t> significantly affects Total Amount</a:t>
            </a:r>
          </a:p>
          <a:p>
            <a:r>
              <a:rPr lang="en-US" dirty="0"/>
              <a:t>.If P-value ≥ 0.05Fail to Reject </a:t>
            </a:r>
            <a:r>
              <a:rPr lang="en-US" dirty="0" err="1"/>
              <a:t>H₀No</a:t>
            </a:r>
            <a:r>
              <a:rPr lang="en-US" dirty="0"/>
              <a:t> significant relationship exists.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345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888112-511B-78D5-2053-7DAC38B2B304}"/>
              </a:ext>
            </a:extLst>
          </p:cNvPr>
          <p:cNvSpPr txBox="1"/>
          <p:nvPr/>
        </p:nvSpPr>
        <p:spPr>
          <a:xfrm>
            <a:off x="304800" y="563881"/>
            <a:ext cx="84201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Statistical Test 2: Independent Samples T-Test</a:t>
            </a:r>
          </a:p>
          <a:p>
            <a:pPr>
              <a:buNone/>
            </a:pPr>
            <a:r>
              <a:rPr lang="en-US" b="1" dirty="0"/>
              <a:t>Business Question</a:t>
            </a:r>
          </a:p>
          <a:p>
            <a:pPr>
              <a:buNone/>
            </a:pPr>
            <a:r>
              <a:rPr lang="en-US" b="1" dirty="0"/>
              <a:t>Do Male and Female customers spend different amounts?</a:t>
            </a:r>
            <a:endParaRPr lang="en-US" dirty="0"/>
          </a:p>
          <a:p>
            <a:pPr>
              <a:buNone/>
            </a:pPr>
            <a:r>
              <a:rPr lang="en-US" b="1" dirty="0"/>
              <a:t>Null Hypothesis (H₀)</a:t>
            </a:r>
          </a:p>
          <a:p>
            <a:pPr>
              <a:buNone/>
            </a:pPr>
            <a:r>
              <a:rPr lang="en-US" dirty="0"/>
              <a:t>.There is </a:t>
            </a:r>
            <a:r>
              <a:rPr lang="en-US" b="1" dirty="0"/>
              <a:t>no significant difference</a:t>
            </a:r>
            <a:r>
              <a:rPr lang="en-US" dirty="0"/>
              <a:t> in average spending between Male and Female customers.</a:t>
            </a:r>
          </a:p>
          <a:p>
            <a:pPr>
              <a:buNone/>
            </a:pPr>
            <a:r>
              <a:rPr lang="en-US" b="1" dirty="0"/>
              <a:t>Alternative Hypothesis (H₁)</a:t>
            </a:r>
          </a:p>
          <a:p>
            <a:pPr>
              <a:buNone/>
            </a:pPr>
            <a:r>
              <a:rPr lang="en-US" dirty="0"/>
              <a:t>.There </a:t>
            </a:r>
            <a:r>
              <a:rPr lang="en-US" b="1" dirty="0"/>
              <a:t>is a significant difference</a:t>
            </a:r>
            <a:r>
              <a:rPr lang="en-US" dirty="0"/>
              <a:t> in average spending between Male and Female customers.</a:t>
            </a:r>
          </a:p>
          <a:p>
            <a:r>
              <a:rPr lang="en-US" b="1" dirty="0"/>
              <a:t>Test Used</a:t>
            </a:r>
          </a:p>
          <a:p>
            <a:r>
              <a:rPr lang="en-US" b="1" dirty="0"/>
              <a:t>Independent Samples T-Test</a:t>
            </a:r>
            <a:endParaRPr lang="en-US" dirty="0"/>
          </a:p>
          <a:p>
            <a:r>
              <a:rPr lang="en-US" b="1" dirty="0"/>
              <a:t>Variables</a:t>
            </a:r>
          </a:p>
          <a:p>
            <a:r>
              <a:rPr lang="en-US" dirty="0"/>
              <a:t>.Gender </a:t>
            </a:r>
          </a:p>
          <a:p>
            <a:r>
              <a:rPr lang="en-US" dirty="0"/>
              <a:t>.Total Amount </a:t>
            </a:r>
          </a:p>
          <a:p>
            <a:r>
              <a:rPr lang="en-US" b="1" dirty="0"/>
              <a:t>Decision</a:t>
            </a:r>
          </a:p>
          <a:p>
            <a:r>
              <a:rPr lang="en-US" dirty="0"/>
              <a:t>If </a:t>
            </a:r>
            <a:r>
              <a:rPr lang="en-US" b="1" dirty="0"/>
              <a:t>P-value &lt; 0.05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.Reject H₀ </a:t>
            </a:r>
          </a:p>
          <a:p>
            <a:pPr lvl="1"/>
            <a:r>
              <a:rPr lang="en-US" dirty="0"/>
              <a:t>.Male and Female customers spend differently. </a:t>
            </a:r>
          </a:p>
          <a:p>
            <a:r>
              <a:rPr lang="en-US" dirty="0"/>
              <a:t>If </a:t>
            </a:r>
            <a:r>
              <a:rPr lang="en-US" b="1" dirty="0"/>
              <a:t>P-value ≥ 0.05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.Fail to Reject H₀ </a:t>
            </a:r>
          </a:p>
          <a:p>
            <a:pPr lvl="1"/>
            <a:r>
              <a:rPr lang="en-US" dirty="0"/>
              <a:t>.Spending patterns are similar.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431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B1A61C-C40F-CCBA-F5A1-9644FB74342F}"/>
              </a:ext>
            </a:extLst>
          </p:cNvPr>
          <p:cNvSpPr txBox="1"/>
          <p:nvPr/>
        </p:nvSpPr>
        <p:spPr>
          <a:xfrm>
            <a:off x="510540" y="751344"/>
            <a:ext cx="98526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Statistical Test 3: Chi-Square Test</a:t>
            </a:r>
          </a:p>
          <a:p>
            <a:pPr>
              <a:buNone/>
            </a:pPr>
            <a:r>
              <a:rPr lang="en-US" b="1" dirty="0"/>
              <a:t>Business Question</a:t>
            </a:r>
          </a:p>
          <a:p>
            <a:pPr>
              <a:buNone/>
            </a:pPr>
            <a:r>
              <a:rPr lang="en-US" b="1" dirty="0"/>
              <a:t>Is Payment Method associated with Product Category?</a:t>
            </a:r>
            <a:endParaRPr lang="en-US" dirty="0"/>
          </a:p>
          <a:p>
            <a:pPr>
              <a:buNone/>
            </a:pPr>
            <a:r>
              <a:rPr lang="en-US" b="1" dirty="0"/>
              <a:t>Null Hypothesis (H₀)</a:t>
            </a:r>
          </a:p>
          <a:p>
            <a:pPr>
              <a:buNone/>
            </a:pPr>
            <a:r>
              <a:rPr lang="en-US" dirty="0"/>
              <a:t>Payment Method and Product Category are </a:t>
            </a:r>
            <a:r>
              <a:rPr lang="en-US" b="1" dirty="0"/>
              <a:t>independent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Alternative Hypothesis (H₁)</a:t>
            </a:r>
          </a:p>
          <a:p>
            <a:pPr>
              <a:buNone/>
            </a:pPr>
            <a:r>
              <a:rPr lang="en-US" dirty="0"/>
              <a:t>Payment Method and Product Category are </a:t>
            </a:r>
            <a:r>
              <a:rPr lang="en-US" b="1" dirty="0"/>
              <a:t>associated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Test Used</a:t>
            </a:r>
          </a:p>
          <a:p>
            <a:pPr>
              <a:buNone/>
            </a:pPr>
            <a:r>
              <a:rPr lang="en-US" b="1" dirty="0"/>
              <a:t>Chi-Square Test of Independence</a:t>
            </a:r>
            <a:endParaRPr lang="en-US" dirty="0"/>
          </a:p>
          <a:p>
            <a:pPr>
              <a:buNone/>
            </a:pPr>
            <a:r>
              <a:rPr lang="en-US" b="1" dirty="0"/>
              <a:t>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 Method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Category </a:t>
            </a:r>
          </a:p>
          <a:p>
            <a:pPr>
              <a:buNone/>
            </a:pPr>
            <a:r>
              <a:rPr lang="en-US" b="1" dirty="0"/>
              <a:t>Decision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/>
              <a:t>P-value &lt; 0.05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Reject H₀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Payment Method is associated with Product Category.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b="1" dirty="0"/>
              <a:t>P-value ≥ 0.05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Fail to Reject H₀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association exists. </a:t>
            </a:r>
          </a:p>
        </p:txBody>
      </p:sp>
    </p:spTree>
    <p:extLst>
      <p:ext uri="{BB962C8B-B14F-4D97-AF65-F5344CB8AC3E}">
        <p14:creationId xmlns:p14="http://schemas.microsoft.com/office/powerpoint/2010/main" val="3442429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ACFC3-13E8-7AD8-65BD-C2151A3F3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565" y="811303"/>
            <a:ext cx="7254869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24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05D10-F28D-98F0-E3B6-11603B21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960" y="887510"/>
            <a:ext cx="6226080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60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A030DD-ABCA-0484-17F2-6F0047254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964" y="1078026"/>
            <a:ext cx="8436071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959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F1EF83-2F54-3E16-AEEB-E520D96CB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082" y="1097078"/>
            <a:ext cx="6873836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2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78D3C5-1FB8-0181-6E0E-C38C405C1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680" y="320040"/>
            <a:ext cx="12214859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48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</TotalTime>
  <Words>284</Words>
  <Application>Microsoft Office PowerPoint</Application>
  <PresentationFormat>Widescreen</PresentationFormat>
  <Paragraphs>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ACCHA TRIVENI VARMA</dc:creator>
  <cp:lastModifiedBy>ACCHA TRIVENI VARMA</cp:lastModifiedBy>
  <cp:revision>3</cp:revision>
  <dcterms:created xsi:type="dcterms:W3CDTF">2026-07-02T16:19:45Z</dcterms:created>
  <dcterms:modified xsi:type="dcterms:W3CDTF">2026-07-02T17:19:54Z</dcterms:modified>
</cp:coreProperties>
</file>